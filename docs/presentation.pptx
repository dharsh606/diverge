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926080" cy="30083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6240" y="128016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784BFF"/>
                </a:solidFill>
              </a:defRPr>
            </a:pPr>
            <a:r>
              <a:t>DIVERGE</a:t>
            </a:r>
          </a:p>
          <a:p>
            <a:pPr>
              <a:spcAft>
                <a:spcPts val="1400"/>
              </a:spcAft>
              <a:defRPr sz="1800" b="1">
                <a:solidFill>
                  <a:srgbClr val="FF5C58"/>
                </a:solidFill>
              </a:defRPr>
            </a:pPr>
            <a:r>
              <a:t>Take the uncommon route.</a:t>
            </a:r>
          </a:p>
          <a:p>
            <a:pPr>
              <a:spcAft>
                <a:spcPts val="1800"/>
              </a:spcAft>
              <a:defRPr sz="1700">
                <a:solidFill>
                  <a:srgbClr val="F7F6FB"/>
                </a:solidFill>
              </a:defRPr>
            </a:pPr>
            <a:r>
              <a:t>A High-Performance Music Streaming Platform Using Go &amp; SvelteKit</a:t>
            </a:r>
          </a:p>
          <a:p>
            <a:pPr>
              <a:spcAft>
                <a:spcPts val="600"/>
              </a:spcAft>
              <a:defRPr sz="1400" b="1">
                <a:solidFill>
                  <a:srgbClr val="784BFF"/>
                </a:solidFill>
              </a:defRPr>
            </a:pPr>
            <a:r>
              <a:t>Author / Intern: Dharshan V | Software Developer</a:t>
            </a:r>
          </a:p>
          <a:p>
            <a:pPr>
              <a:spcAft>
                <a:spcPts val="400"/>
              </a:spcAft>
              <a:defRPr sz="1200">
                <a:solidFill>
                  <a:srgbClr val="9D96B2"/>
                </a:solidFill>
              </a:defRPr>
            </a:pPr>
            <a:r>
              <a:t>Program: Tech Vedhu Internship Project Submission</a:t>
            </a:r>
          </a:p>
          <a:p>
            <a:pPr>
              <a:spcAft>
                <a:spcPts val="400"/>
              </a:spcAft>
              <a:defRPr sz="1200">
                <a:solidFill>
                  <a:srgbClr val="9D96B2"/>
                </a:solidFill>
              </a:defRPr>
            </a:pPr>
            <a:r>
              <a:t>Primary Track: Full-Stack Web Development (Go, SvelteKit, PostgreSQL)</a:t>
            </a:r>
          </a:p>
          <a:p>
            <a:pPr>
              <a:defRPr sz="1100">
                <a:solidFill>
                  <a:srgbClr val="9D96B2"/>
                </a:solidFill>
              </a:defRPr>
            </a:pPr>
            <a:r>
              <a:t>Initiated: October 10, 2026 | Capstone Milestone | Submission: October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Executive Summary: Beyond The Algorithmic Mainstream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784BFF"/>
                </a:solidFill>
              </a:defRPr>
            </a:pPr>
            <a:r>
              <a:t>Platform Philosophy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Spotify-inspired core functionality with intentional discovery innovations.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Engineered with Go (Fiber) backend and SvelteKit frontend for high throughput.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Deterministic Discovery: Powered by exact musicology attributes (BPM, Key, Energy, Valence).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Full Song Audio Engine: Jamendo CDN &amp; local storage delivering complete 3-6 min songs.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Strict atmospheric visual rules: No purple gradients, no pill buttons, no fake reviews.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800">
                <a:solidFill>
                  <a:srgbClr val="FF5C58"/>
                </a:solidFill>
              </a:defRPr>
            </a:pPr>
            <a:r>
              <a:t>Engineering Highlights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Sub-10ms API response times with Go Fiber zero-allocation routing.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HTTP 206 Partial Content Range streaming enables instant timeline scrubbing.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110 full-length songs seeded across 4 quadrants with deterministic Track DNA glyphs.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IndexedDB + Service Worker offline storage for persistent offline playback.</a:t>
            </a:r>
          </a:p>
          <a:p>
            <a:pPr>
              <a:spcAft>
                <a:spcPts val="1000"/>
              </a:spcAft>
              <a:defRPr sz="1250">
                <a:solidFill>
                  <a:srgbClr val="F7F6FB"/>
                </a:solidFill>
              </a:defRPr>
            </a:pPr>
            <a:r>
              <a:t>• Synchronized multi-user Diverge Sessions with live room code sharing.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Problem Statement: Flaws in Contemporary Streaming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600">
                <a:solidFill>
                  <a:srgbClr val="FF5C58"/>
                </a:solidFill>
              </a:defRPr>
            </a:pPr>
            <a:r>
              <a:t>Algorithmic Homogenization</a:t>
            </a:r>
          </a:p>
          <a:p>
            <a:pPr>
              <a:defRPr sz="1300">
                <a:solidFill>
                  <a:srgbClr val="9D96B2"/>
                </a:solidFill>
              </a:defRPr>
            </a:pPr>
            <a:r>
              <a:t>Collaborative filtering creates self-reinforcing echo chambers, funneling listeners into identical popular tracks.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291840" cy="429768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600">
                <a:solidFill>
                  <a:srgbClr val="784BFF"/>
                </a:solidFill>
              </a:defRPr>
            </a:pPr>
            <a:r>
              <a:t>High Streaming Overhead</a:t>
            </a:r>
          </a:p>
          <a:p>
            <a:pPr>
              <a:defRPr sz="1300">
                <a:solidFill>
                  <a:srgbClr val="9D96B2"/>
                </a:solidFill>
              </a:defRPr>
            </a:pPr>
            <a:r>
              <a:t>Naive web players load entire uncompressed audio files into browser RAM, draining mobile battery and causing buffering stalls.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3291840" cy="4297680"/>
          </a:xfrm>
          <a:prstGeom prst="roundRect">
            <a:avLst/>
          </a:prstGeom>
          <a:solidFill>
            <a:srgbClr val="12101B"/>
          </a:solidFill>
          <a:ln>
            <a:solidFill>
              <a:srgbClr val="F7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600">
                <a:solidFill>
                  <a:srgbClr val="F7F6FB"/>
                </a:solidFill>
              </a:defRPr>
            </a:pPr>
            <a:r>
              <a:t>Superficial Interface Slog</a:t>
            </a:r>
          </a:p>
          <a:p>
            <a:pPr>
              <a:defRPr sz="1300">
                <a:solidFill>
                  <a:srgbClr val="9D96B2"/>
                </a:solidFill>
              </a:defRPr>
            </a:pPr>
            <a:r>
              <a:t>Modern web products overuse generic purple gradients, pill buttons, and fake user reviews that detract from listening focus.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Project Objectives &amp; Scope of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784BFF"/>
                </a:solidFill>
              </a:defRPr>
            </a:pPr>
            <a:r>
              <a:t>1. Core Music Streaming: </a:t>
            </a:r>
            <a:r>
              <a:rPr b="0" sz="1300">
                <a:solidFill>
                  <a:srgbClr val="F7F6FB"/>
                </a:solidFill>
              </a:rPr>
              <a:t>Browse 110 full-length tracks, persistent player, HTTP Range requests, volume control, and shuffle/repeat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784BFF"/>
                </a:solidFill>
              </a:defRPr>
            </a:pPr>
            <a:r>
              <a:t>2. Playlist Lifecycle: </a:t>
            </a:r>
            <a:r>
              <a:rPr b="0" sz="1300">
                <a:solidFill>
                  <a:srgbClr val="F7F6FB"/>
                </a:solidFill>
              </a:rPr>
              <a:t>Create, edit, reorder, delete, and publicly share playlists via direct URL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784BFF"/>
                </a:solidFill>
              </a:defRPr>
            </a:pPr>
            <a:r>
              <a:t>3. Offline Playback: </a:t>
            </a:r>
            <a:r>
              <a:rPr b="0" sz="1300">
                <a:solidFill>
                  <a:srgbClr val="F7F6FB"/>
                </a:solidFill>
              </a:rPr>
              <a:t>Cache audio streams in browser IndexedDB with a dedicated Service Worker for zero-network playback.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784BFF"/>
                </a:solidFill>
              </a:defRPr>
            </a:pPr>
            <a:r>
              <a:t>4. Signature Features: </a:t>
            </a:r>
            <a:r>
              <a:rPr b="0" sz="1300">
                <a:solidFill>
                  <a:srgbClr val="F7F6FB"/>
                </a:solidFill>
              </a:rPr>
              <a:t>Diverge Sessions (sync rooms), Track DNA (SVG glyphs), Anti-Algorithm, Trace (tree), Context Tags.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784BFF"/>
                </a:solidFill>
              </a:defRPr>
            </a:pPr>
            <a:r>
              <a:t>5. Performance Standards: </a:t>
            </a:r>
            <a:r>
              <a:rPr b="0" sz="1300">
                <a:solidFill>
                  <a:srgbClr val="F7F6FB"/>
                </a:solidFill>
              </a:rPr>
              <a:t>Sub-10ms API queries, instant audio seek via HTTP 206, and zero browser memory leaks.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14600" cy="429768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b="1" sz="1600">
                <a:solidFill>
                  <a:srgbClr val="784BFF"/>
                </a:solidFill>
              </a:defRPr>
            </a:pPr>
            <a:r>
              <a:t>Presentation Layer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SvelteKit (Svelte 5)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HTML5 Audio Engine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IndexedDB Storage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Service Worker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14600" cy="4297680"/>
          </a:xfrm>
          <a:prstGeom prst="roundRect">
            <a:avLst/>
          </a:prstGeom>
          <a:solidFill>
            <a:srgbClr val="12101B"/>
          </a:solidFill>
          <a:ln>
            <a:solidFill>
              <a:srgbClr val="F7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b="1" sz="1600">
                <a:solidFill>
                  <a:srgbClr val="F7F6FB"/>
                </a:solidFill>
              </a:defRPr>
            </a:pPr>
            <a:r>
              <a:t>API Gateway Layer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Go Fiber Framework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JWT Authentication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CORS Middleware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Rate-limiting &amp; Logger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14600" cy="429768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b="1" sz="1600">
                <a:solidFill>
                  <a:srgbClr val="FF5C58"/>
                </a:solidFill>
              </a:defRPr>
            </a:pPr>
            <a:r>
              <a:t>Business Logic Layer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Anti-Algorithm Engine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Track DNA Generator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Trace Tree Builder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Session Sync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514600" cy="429768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b="1" sz="1600">
                <a:solidFill>
                  <a:srgbClr val="784BFF"/>
                </a:solidFill>
              </a:defRPr>
            </a:pPr>
            <a:r>
              <a:t>Data &amp; Storage Layer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PostgreSQL 16 (UTF-8)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Normalized GORM Models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HTTP Range Streamer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Full Audio CDN Pool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Technology Stack Justification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500">
                <a:solidFill>
                  <a:srgbClr val="784BFF"/>
                </a:solidFill>
              </a:defRPr>
            </a:pPr>
            <a:r>
              <a:t>Backend: Go (Golang 1.22) &amp; Fiber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Superior concurrency: Goroutines handle hundreds of simultaneous audio streams.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FastHTTP engine: Zero allocation router yields sub-millisecond response times.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Single binary deployment: Self-contained binary with zero external runtime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500">
                <a:solidFill>
                  <a:srgbClr val="FF5C58"/>
                </a:solidFill>
              </a:defRPr>
            </a:pPr>
            <a:r>
              <a:t>Frontend: SvelteKit &amp; TypeScript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True reactivity: Compiles down to surgically precise DOM updates without Virtual DOM overhead.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Persistent app shell: Seamless audio playback across client-side page transitions.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Lightweight footprint: Minimal bundle size ensures fast time-to-interactive.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2101B"/>
          </a:solidFill>
          <a:ln>
            <a:solidFill>
              <a:srgbClr val="F7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500">
                <a:solidFill>
                  <a:srgbClr val="F7F6FB"/>
                </a:solidFill>
              </a:defRPr>
            </a:pPr>
            <a:r>
              <a:t>Database: PostgreSQL 16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Strict relational integrity: Enforces foreign keys across playlists, users, and history.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Advanced indexing: Unique B-tree indexes on share tokens and composite indexes on tags.</a:t>
            </a:r>
          </a:p>
          <a:p>
            <a:pPr>
              <a:spcAft>
                <a:spcPts val="200"/>
              </a:spcAft>
              <a:defRPr sz="1200">
                <a:solidFill>
                  <a:srgbClr val="F7F6FB"/>
                </a:solidFill>
              </a:defRPr>
            </a:pPr>
            <a:r>
              <a:t>• UTF-8 compliance: Robust support for international track metadata.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Database Design: 9 Relational Entities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784BFF"/>
                </a:solidFill>
              </a:defRPr>
            </a:pPr>
            <a:r>
              <a:t>Users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id, username, email, password_hash, avatar_url, created_at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FF5C58"/>
                </a:solidFill>
              </a:defRPr>
            </a:pPr>
            <a:r>
              <a:t>Artists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id, name, bio, image_url, jamendo_id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784BFF"/>
                </a:solidFill>
              </a:defRPr>
            </a:pPr>
            <a:r>
              <a:t>Albums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id, artist_id, title, cover_url, release_year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FF5C58"/>
                </a:solidFill>
              </a:defRPr>
            </a:pPr>
            <a:r>
              <a:t>Songs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id, title, album_id, artist_id, duration, bpm, energy, mood, genre, share_token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15468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784BFF"/>
                </a:solidFill>
              </a:defRPr>
            </a:pPr>
            <a:r>
              <a:t>Playlists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id, user_id, name, description, cover_url, is_public, share_token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15468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FF5C58"/>
                </a:solidFill>
              </a:defRPr>
            </a:pPr>
            <a:r>
              <a:t>PlaylistSongs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playlist_id, song_id, position, added_at (Composite PK)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784BFF"/>
                </a:solidFill>
              </a:defRPr>
            </a:pPr>
            <a:r>
              <a:t>ListeningHistories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id, user_id, song_id, played_at, play_duration_seconds, context_tags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66344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FF5C58"/>
                </a:solidFill>
              </a:defRPr>
            </a:pPr>
            <a:r>
              <a:t>ContextTags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id, user_id, song_id, tag_name, created_at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663440"/>
            <a:ext cx="3383280" cy="132588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784BFF"/>
                </a:solidFill>
              </a:defRPr>
            </a:pPr>
            <a:r>
              <a:t>DivergeSessions</a:t>
            </a:r>
          </a:p>
          <a:p>
            <a:pPr>
              <a:defRPr sz="1050">
                <a:solidFill>
                  <a:srgbClr val="9D96B2"/>
                </a:solidFill>
              </a:defRPr>
            </a:pPr>
            <a:r>
              <a:t>id, host_user_id, name, share_code, current_song_id, position, is_playing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Audio Streaming Engine &amp; Range Seeking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784BFF"/>
                </a:solidFill>
              </a:defRPr>
            </a:pPr>
            <a:r>
              <a:t>HTTP 206 Partial Content Protocol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Browser transmits Range header: Range: bytes=1048576-2097151.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Go backend parses byte boundaries and extracts requested chunk.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Server replies with HTTP 206 Partial Content and Content-Range: bytes 1048576-2097151/8388608.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Enables instantaneous timeline scrubbing across full 3-6 minute audio tracks.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FF5C58"/>
                </a:solidFill>
              </a:defRPr>
            </a:pPr>
            <a:r>
              <a:t>Persistent Svelte Audio Store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Audio element lives in persistent player singleton outside route DOM.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Smooth navigation across /search, /library, /trace without audio interruption.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Fisher-Yates shuffle algorithm guarantees uniformly random track order.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Three-state repeat mode: Repeat Off -&gt; Repeat All -&gt; Repeat One track.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Feature Showcase: Anti-Algorithm &amp; Discovery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784BFF"/>
                </a:solidFill>
              </a:defRPr>
            </a:pPr>
            <a:r>
              <a:t>1. The Anti-Algorithm Engine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Calculates user centroid: Mean BPM, energy, mood, and dominant genre.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Inverts listening profile to discover under-explored sonic spaces.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Serves curated divergence with explicit explanation rationale.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Provides a dedicated discovery toggle directly inside the search 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FF5C58"/>
                </a:solidFill>
              </a:defRPr>
            </a:pPr>
            <a:r>
              <a:t>2. Real-Time Music Discovery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Debounced live catalog search across track titles, artists, and genres.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Direct streaming integration with authentic artist studio master audio.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Instant playback response with zero buffering lag or memory leaks.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Deterministic musicology analysis (BPM, musical key, energy scores).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Feature Showcase: Track DNA, Trace &amp;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500">
                <a:solidFill>
                  <a:srgbClr val="784BFF"/>
                </a:solidFill>
              </a:defRPr>
            </a:pPr>
            <a:r>
              <a:t>3. Track DNA</a:t>
            </a:r>
          </a:p>
          <a:p>
            <a:pPr>
              <a:defRPr sz="1200">
                <a:solidFill>
                  <a:srgbClr val="F7F6FB"/>
                </a:solidFill>
              </a:defRPr>
            </a:pPr>
            <a:r>
              <a:t>Deterministic generative SVG glyph produced per song based strictly on its BPM, key, and energy. Zero randomness; identical glyph per song every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12080" cy="205740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500">
                <a:solidFill>
                  <a:srgbClr val="FF5C58"/>
                </a:solidFill>
              </a:defRPr>
            </a:pPr>
            <a:r>
              <a:t>4. Trace Journey</a:t>
            </a:r>
          </a:p>
          <a:p>
            <a:pPr>
              <a:defRPr sz="1200">
                <a:solidFill>
                  <a:srgbClr val="F7F6FB"/>
                </a:solidFill>
              </a:defRPr>
            </a:pPr>
            <a:r>
              <a:t>Branching tree visualization of user's listening path. Detects genre transitions and branches new exploration paths rather than flat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12101B"/>
          </a:solidFill>
          <a:ln>
            <a:solidFill>
              <a:srgbClr val="F7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500">
                <a:solidFill>
                  <a:srgbClr val="F7F6FB"/>
                </a:solidFill>
              </a:defRPr>
            </a:pPr>
            <a:r>
              <a:t>5. Diverge Sessions</a:t>
            </a:r>
          </a:p>
          <a:p>
            <a:pPr>
              <a:defRPr sz="1200">
                <a:solidFill>
                  <a:srgbClr val="F7F6FB"/>
                </a:solidFill>
              </a:defRPr>
            </a:pPr>
            <a:r>
              <a:t>Synchronized group listening rooms with 6-character room codes, live queue additions, and synchronized playback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12080" cy="205740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500">
                <a:solidFill>
                  <a:srgbClr val="784BFF"/>
                </a:solidFill>
              </a:defRPr>
            </a:pPr>
            <a:r>
              <a:t>6. Context Tags</a:t>
            </a:r>
          </a:p>
          <a:p>
            <a:pPr>
              <a:defRPr sz="1200">
                <a:solidFill>
                  <a:srgbClr val="F7F6FB"/>
                </a:solidFill>
              </a:defRPr>
            </a:pPr>
            <a:r>
              <a:t>Personal context tagging (#midnight, #code-flow) allowing listeners to attach environments and retrieve context-filtered recommendations.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UI/UX Engineering: Cinematic Onboarding &amp; Luxury Auth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784BFF"/>
                </a:solidFill>
              </a:defRPr>
            </a:pPr>
            <a:r>
              <a:t>1. Cinematic 3.5s Logo Intro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Acoustic Harmonic Rings: Concentric wave pulses expand from center, simulating speaker frequency displacement.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3D Floating Emblem: Official DIVERGE 3D logo mark rises with smooth spring physics and iridescent aura glow.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Typographic Stagger: 'DIVERGE' wordmark tracks out with gradient text clipping; tagline reveals with warm amber/coral accent.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Precision Frequency Scrubber: 3.5s progress timeline with live equalizer audio bars and instant skip capability.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FF5C58"/>
                </a:solidFill>
              </a:defRPr>
            </a:pPr>
            <a:r>
              <a:t>2. Luxury Spotlight &amp; Border Beam Auth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React Bits Spotlight Card: Real-time cursor coordinates track across card, projecting a dynamic radial light beam.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Magic UI Border Beam: Rotating conic gradient travels continuously along 1px rounded border without lagging.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Fluid Segmented Switcher: Tactile sliding pill transitions smoothly between Sign In and Create Account.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Live Strength &amp; Equalizer: Real-time 4-stage password strength visualizer and audio equalizer loader (||||) on submit.</a:t>
            </a:r>
          </a:p>
          <a:p>
            <a:pPr>
              <a:spcAft>
                <a:spcPts val="800"/>
              </a:spcAft>
              <a:defRPr sz="1200">
                <a:solidFill>
                  <a:srgbClr val="F7F6FB"/>
                </a:solidFill>
              </a:defRPr>
            </a:pPr>
            <a:r>
              <a:t>• Guest Bypass &amp; Replay: Frictionless 'Explore as Guest' access and home page 'Intro Animation' replay pill.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84BFF"/>
                </a:solidFill>
              </a:defRPr>
            </a:pPr>
            <a:r>
              <a:t>TECH VEDHU INTERNSHIP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7F6FB"/>
                </a:solidFill>
              </a:defRPr>
            </a:pPr>
            <a:r>
              <a:t>Verification Pass Rate &amp; Platform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784BFF"/>
                </a:solidFill>
              </a:defRPr>
            </a:pPr>
            <a:r>
              <a:t>100% Verification Pass Rate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TC-01: PostgreSQL Cluster Initialization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TC-02: Go Backend Auto-Migration (9 tables)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TC-03: Catalog Seed (110 full-length tracks)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TC-04: User Registration &amp; Bcrypt Hashing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TC-05: JWT Session Cookie Authentication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TC-06: Real Audio Range Seek &amp; Stream Redirect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TC-07: Anti-Algorithm Comfort Inversion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TC-08: Trace Journey Tree Construction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TC-09: IndexedDB Offline Blob Cache — </a:t>
            </a:r>
            <a:r>
              <a:rPr b="1">
                <a:solidFill>
                  <a:srgbClr val="4ADE80"/>
                </a:solidFill>
              </a:rPr>
              <a:t>PASS</a:t>
            </a:r>
          </a:p>
          <a:p>
            <a:pPr>
              <a:defRPr sz="1100">
                <a:solidFill>
                  <a:srgbClr val="F7F6FB"/>
                </a:solidFill>
              </a:defRPr>
            </a:pPr>
            <a:r>
              <a:t>✔ TC-10: Frontend Production Build &amp; SSR Routing — </a:t>
            </a:r>
            <a:r>
              <a:rPr b="1">
                <a:solidFill>
                  <a:srgbClr val="4ADE80"/>
                </a:solidFill>
              </a:rPr>
              <a:t>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2101B"/>
          </a:solidFill>
          <a:ln>
            <a:solidFill>
              <a:srgbClr val="FF5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FF5C58"/>
                </a:solidFill>
              </a:defRPr>
            </a:pPr>
            <a:r>
              <a:t>Future Platform Expansion Roadmap</a:t>
            </a:r>
          </a:p>
          <a:p>
            <a:pPr>
              <a:spcAft>
                <a:spcPts val="600"/>
              </a:spcAft>
              <a:defRPr b="1" sz="1150">
                <a:solidFill>
                  <a:srgbClr val="FF5C58"/>
                </a:solidFill>
              </a:defRPr>
            </a:pPr>
            <a:r>
              <a:t>• Cross-Platform Mobile Apps (iOS &amp; Android): </a:t>
            </a:r>
            <a:r>
              <a:rPr b="0">
                <a:solidFill>
                  <a:srgbClr val="F7F6FB"/>
                </a:solidFill>
              </a:rPr>
              <a:t>Native builds using Capacitor / Flutter bringing offline sync, lock-screen controls, and listening rooms to smartphones.</a:t>
            </a:r>
          </a:p>
          <a:p>
            <a:pPr>
              <a:spcAft>
                <a:spcPts val="600"/>
              </a:spcAft>
              <a:defRPr b="1" sz="1150">
                <a:solidFill>
                  <a:srgbClr val="FF5C58"/>
                </a:solidFill>
              </a:defRPr>
            </a:pPr>
            <a:r>
              <a:t>• Native Windows Desktop Executable (.exe): </a:t>
            </a:r>
            <a:r>
              <a:rPr b="0">
                <a:solidFill>
                  <a:srgbClr val="F7F6FB"/>
                </a:solidFill>
              </a:rPr>
              <a:t>Packaged desktop client with low-latency audio driver, global media hotkeys, and system tray minimization.</a:t>
            </a:r>
          </a:p>
          <a:p>
            <a:pPr>
              <a:spcAft>
                <a:spcPts val="600"/>
              </a:spcAft>
              <a:defRPr b="1" sz="1150">
                <a:solidFill>
                  <a:srgbClr val="FF5C58"/>
                </a:solidFill>
              </a:defRPr>
            </a:pPr>
            <a:r>
              <a:t>• High-Availability Cloud Edge Delivery: </a:t>
            </a:r>
            <a:r>
              <a:rPr b="0">
                <a:solidFill>
                  <a:srgbClr val="F7F6FB"/>
                </a:solidFill>
              </a:rPr>
              <a:t>Multi-region edge distribution for zero-latency audio streaming with automated elastic database scaling.</a:t>
            </a:r>
          </a:p>
          <a:p>
            <a:pPr>
              <a:spcAft>
                <a:spcPts val="600"/>
              </a:spcAft>
              <a:defRPr b="1" sz="1150">
                <a:solidFill>
                  <a:srgbClr val="FF5C58"/>
                </a:solidFill>
              </a:defRPr>
            </a:pPr>
            <a:r>
              <a:t>• WebAssembly DSP Audio Visualizer: </a:t>
            </a:r>
            <a:r>
              <a:rPr b="0">
                <a:solidFill>
                  <a:srgbClr val="F7F6FB"/>
                </a:solidFill>
              </a:rPr>
              <a:t>In-browser Fast Fourier Transform (FFT) for direct audio frequency spectrum analysis and reactive waveforms.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9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2101B"/>
          </a:solidFill>
          <a:ln>
            <a:solidFill>
              <a:srgbClr val="784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310896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20640" y="11887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7F6FB"/>
                </a:solidFill>
              </a:defRPr>
            </a:pPr>
            <a:r>
              <a:t>Thank You</a:t>
            </a:r>
          </a:p>
          <a:p>
            <a:pPr>
              <a:spcAft>
                <a:spcPts val="1400"/>
              </a:spcAft>
              <a:defRPr sz="1600" b="1">
                <a:solidFill>
                  <a:srgbClr val="FF5C58"/>
                </a:solidFill>
              </a:defRPr>
            </a:pPr>
            <a:r>
              <a:t>DIVERGE - Take the uncommon route.</a:t>
            </a:r>
          </a:p>
          <a:p>
            <a:pPr>
              <a:spcAft>
                <a:spcPts val="200"/>
              </a:spcAft>
              <a:defRPr sz="2000" b="1">
                <a:solidFill>
                  <a:srgbClr val="784BFF"/>
                </a:solidFill>
              </a:defRPr>
            </a:pPr>
            <a:r>
              <a:t>Dharshan V</a:t>
            </a:r>
          </a:p>
          <a:p>
            <a:pPr>
              <a:spcAft>
                <a:spcPts val="400"/>
              </a:spcAft>
              <a:defRPr sz="1200">
                <a:solidFill>
                  <a:srgbClr val="F7F6FB"/>
                </a:solidFill>
              </a:defRPr>
            </a:pPr>
            <a:r>
              <a:t>Software Developer | Full-Stack Web Development Track</a:t>
            </a:r>
          </a:p>
          <a:p>
            <a:pPr>
              <a:spcAft>
                <a:spcPts val="1600"/>
              </a:spcAft>
              <a:defRPr sz="1200">
                <a:solidFill>
                  <a:srgbClr val="9D96B2"/>
                </a:solidFill>
              </a:defRPr>
            </a:pPr>
            <a:r>
              <a:t>Tech Vedhu Internship Project Submission</a:t>
            </a:r>
          </a:p>
          <a:p>
            <a:pPr>
              <a:spcAft>
                <a:spcPts val="300"/>
              </a:spcAft>
              <a:defRPr b="1" sz="1100">
                <a:solidFill>
                  <a:srgbClr val="FF5C58"/>
                </a:solidFill>
              </a:defRPr>
            </a:pPr>
            <a:r>
              <a:t>Live Web App: </a:t>
            </a:r>
            <a:r>
              <a:rPr b="0">
                <a:solidFill>
                  <a:srgbClr val="F7F6FB"/>
                </a:solidFill>
              </a:rPr>
              <a:t>https://diverge-music.vercel.app</a:t>
            </a:r>
          </a:p>
          <a:p>
            <a:pPr>
              <a:spcAft>
                <a:spcPts val="300"/>
              </a:spcAft>
              <a:defRPr b="1" sz="1100">
                <a:solidFill>
                  <a:srgbClr val="FF5C58"/>
                </a:solidFill>
              </a:defRPr>
            </a:pPr>
            <a:r>
              <a:t>Phone: </a:t>
            </a:r>
            <a:r>
              <a:rPr b="0">
                <a:solidFill>
                  <a:srgbClr val="F7F6FB"/>
                </a:solidFill>
              </a:rPr>
              <a:t>+91 6382546285</a:t>
            </a:r>
          </a:p>
          <a:p>
            <a:pPr>
              <a:spcAft>
                <a:spcPts val="300"/>
              </a:spcAft>
              <a:defRPr b="1" sz="1100">
                <a:solidFill>
                  <a:srgbClr val="FF5C58"/>
                </a:solidFill>
              </a:defRPr>
            </a:pPr>
            <a:r>
              <a:t>Email: </a:t>
            </a:r>
            <a:r>
              <a:rPr b="0">
                <a:solidFill>
                  <a:srgbClr val="F7F6FB"/>
                </a:solidFill>
              </a:rPr>
              <a:t>dharshan.vreddy2819@gmail.com</a:t>
            </a:r>
          </a:p>
          <a:p>
            <a:pPr>
              <a:spcAft>
                <a:spcPts val="300"/>
              </a:spcAft>
              <a:defRPr b="1" sz="1100">
                <a:solidFill>
                  <a:srgbClr val="FF5C58"/>
                </a:solidFill>
              </a:defRPr>
            </a:pPr>
            <a:r>
              <a:t>Portfolio: </a:t>
            </a:r>
            <a:r>
              <a:rPr b="0">
                <a:solidFill>
                  <a:srgbClr val="F7F6FB"/>
                </a:solidFill>
              </a:rPr>
              <a:t>https://dharshanvportfolio.netlify.app/</a:t>
            </a:r>
          </a:p>
          <a:p>
            <a:pPr>
              <a:spcAft>
                <a:spcPts val="300"/>
              </a:spcAft>
              <a:defRPr b="1" sz="1100">
                <a:solidFill>
                  <a:srgbClr val="FF5C58"/>
                </a:solidFill>
              </a:defRPr>
            </a:pPr>
            <a:r>
              <a:t>GitHub: </a:t>
            </a:r>
            <a:r>
              <a:rPr b="0">
                <a:solidFill>
                  <a:srgbClr val="F7F6FB"/>
                </a:solidFill>
              </a:rPr>
              <a:t>https://github.com/Dharsh606</a:t>
            </a:r>
          </a:p>
          <a:p>
            <a:pPr>
              <a:spcAft>
                <a:spcPts val="300"/>
              </a:spcAft>
              <a:defRPr b="1" sz="1100">
                <a:solidFill>
                  <a:srgbClr val="FF5C58"/>
                </a:solidFill>
              </a:defRPr>
            </a:pPr>
            <a:r>
              <a:t>Repository: </a:t>
            </a:r>
            <a:r>
              <a:rPr b="0">
                <a:solidFill>
                  <a:srgbClr val="F7F6FB"/>
                </a:solidFill>
              </a:rPr>
              <a:t>https://github.com/Dharsh606/DIVERGE</a:t>
            </a:r>
          </a:p>
          <a:p>
            <a:pPr>
              <a:spcAft>
                <a:spcPts val="300"/>
              </a:spcAft>
              <a:defRPr b="1" sz="1100">
                <a:solidFill>
                  <a:srgbClr val="FF5C58"/>
                </a:solidFill>
              </a:defRPr>
            </a:pPr>
            <a:r>
              <a:t>LinkedIn: </a:t>
            </a:r>
            <a:r>
              <a:rPr b="0">
                <a:solidFill>
                  <a:srgbClr val="F7F6FB"/>
                </a:solidFill>
              </a:rPr>
              <a:t>https://www.linkedin.com/in/dharshanvreddy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