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5400" b="1">
                <a:solidFill>
                  <a:srgbClr val="B19AFF"/>
                </a:solidFill>
              </a:defRPr>
            </a:pPr>
            <a:r>
              <a:t>DIVERGE</a:t>
            </a:r>
          </a:p>
          <a:p>
            <a:pPr>
              <a:spcAft>
                <a:spcPts val="2000"/>
              </a:spcAft>
              <a:defRPr sz="2200">
                <a:solidFill>
                  <a:srgbClr val="F5F0E8"/>
                </a:solidFill>
              </a:defRPr>
            </a:pPr>
            <a:r>
              <a:t>A High-Performance Music Streaming Platform Using Go and Svelte</a:t>
            </a:r>
          </a:p>
          <a:p>
            <a:pPr>
              <a:defRPr sz="1400">
                <a:solidFill>
                  <a:srgbClr val="FF796C"/>
                </a:solidFill>
              </a:defRPr>
            </a:pPr>
            <a:r>
              <a:t>Take the uncommon route. — 45-Day Capstone Project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Executive Summary: Beyond The Algorithmic Mainstream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B19AFF"/>
                </a:solidFill>
              </a:defRPr>
            </a:pPr>
            <a:r>
              <a:t>Platform Philosophy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Spotify-inspired core functionality with intentional discovery innovations.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Engineered with Go (Fiber) backend and SvelteKit frontend.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Zero AI slop: Discovery powered by deterministic musicology attributes (BPM, Key, Energy, Valence).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Strict anti-vibe product visual rules: No purple gradients, no pill buttons, no fake reviews.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800">
                <a:solidFill>
                  <a:srgbClr val="FF796C"/>
                </a:solidFill>
              </a:defRPr>
            </a:pPr>
            <a:r>
              <a:t>Key Deliverables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Deliverable 1: Complete Go backend + SvelteKit frontend source code.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Deliverable 2: Professional 16-chapter PDF technical project report.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Deliverable 3: 12-slide comprehensive presentation deck.</a:t>
            </a:r>
          </a:p>
          <a:p>
            <a:pPr>
              <a:spcAft>
                <a:spcPts val="1000"/>
              </a:spcAft>
              <a:defRPr sz="1300">
                <a:solidFill>
                  <a:srgbClr val="F5F0E8"/>
                </a:solidFill>
              </a:defRPr>
            </a:pPr>
            <a:r>
              <a:t>• Full local deployment with PostgreSQL 16 and Creative Commons audio streaming.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Problem Statement: Flaws in Contemporary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F796C"/>
                </a:solidFill>
              </a:defRPr>
            </a:pPr>
            <a:r>
              <a:t>Algorithmic Homogenization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Collaborative filtering creates self-reinforcing echo chambers, funneling listeners into identical popular tracks.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B19AFF"/>
                </a:solidFill>
              </a:defRPr>
            </a:pPr>
            <a:r>
              <a:t>High Streaming Overhead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Naive web players load entire uncompressed audio files into browser RAM, draining mobile battery and causing buffering stalls.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1600">
                <a:solidFill>
                  <a:srgbClr val="F5F0E8"/>
                </a:solidFill>
              </a:defRPr>
            </a:pPr>
            <a:r>
              <a:t>Superficial Interface Slog</a:t>
            </a:r>
          </a:p>
          <a:p>
            <a:pPr>
              <a:defRPr sz="1300">
                <a:solidFill>
                  <a:srgbClr val="AAA4BB"/>
                </a:solidFill>
              </a:defRPr>
            </a:pPr>
            <a:r>
              <a:t>Modern web products overuse generic purple gradients, pill buttons, and fake user reviews that detract from listening focus.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1. Core Music Streaming: </a:t>
            </a:r>
            <a:r>
              <a:rPr b="0" sz="1300">
                <a:solidFill>
                  <a:srgbClr val="F5F0E8"/>
                </a:solidFill>
              </a:rPr>
              <a:t>Browse songs, persistent player, HTTP Range requests, volume control, and shuffle/repeat modes.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2. Playlist Lifecycle: </a:t>
            </a:r>
            <a:r>
              <a:rPr b="0" sz="1300">
                <a:solidFill>
                  <a:srgbClr val="F5F0E8"/>
                </a:solidFill>
              </a:rPr>
              <a:t>Create, edit, reorder, delete, and publicly share playlists via direct URL tokens.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3. Offline Playback: </a:t>
            </a:r>
            <a:r>
              <a:rPr b="0" sz="1300">
                <a:solidFill>
                  <a:srgbClr val="F5F0E8"/>
                </a:solidFill>
              </a:rPr>
              <a:t>Cache permitted audio files in browser IndexedDB with a dedicated Service Worker.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4. Six Divergence Features: </a:t>
            </a:r>
            <a:r>
              <a:rPr b="0" sz="1300">
                <a:solidFill>
                  <a:srgbClr val="F5F0E8"/>
                </a:solidFill>
              </a:rPr>
              <a:t>Sound Canvas (2D map), Sessions (sync rooms), Track DNA (SVG glyphs), Anti-Algorithm, Trace (tree), Context Tags.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B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B19AFF"/>
                </a:solidFill>
              </a:defRPr>
            </a:pPr>
            <a:r>
              <a:t>5. Performance Standards: </a:t>
            </a:r>
            <a:r>
              <a:rPr b="0" sz="1300">
                <a:solidFill>
                  <a:srgbClr val="F5F0E8"/>
                </a:solidFill>
              </a:rPr>
              <a:t>Sub-10ms API queries, instant audio seek via HTTP 206, and zero browser memory leaks.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Presentation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SvelteKit (Svelte 5)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HTML5 Audio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IndexedDB Storage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Service Worker Cache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5F0E8"/>
                </a:solidFill>
              </a:defRPr>
            </a:pPr>
            <a:r>
              <a:t>API Gateway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Fiber Framework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JWT Authentication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CORS Middleware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Rate-limiting &amp; Logger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FF796C"/>
                </a:solidFill>
              </a:defRPr>
            </a:pPr>
            <a:r>
              <a:t>Business Logic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Anti-Algorithm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Track DNA Generator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Trace Tree Builder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Session Sync 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  <a:defRPr b="1" sz="1600">
                <a:solidFill>
                  <a:srgbClr val="B19AFF"/>
                </a:solidFill>
              </a:defRPr>
            </a:pPr>
            <a:r>
              <a:t>Data &amp; Storage Layer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PostgreSQL 16 (UTF-8)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Normalized GORM Models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HTTP Range Streamer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Jamendo / CC Audio CDN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Technology Stack Justification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B19AFF"/>
                </a:solidFill>
              </a:defRPr>
            </a:pPr>
            <a:r>
              <a:t>Backend: Go (Golang 1.22) &amp; Fiber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Superior concurrency: Goroutines handle hundreds of simultaneous audio streams.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FastHTTP engine: Zero allocation router yields sub-millisecond response times.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Single binary deployment: Self-contained binary with zero external runtime dependencies.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F796C"/>
                </a:solidFill>
              </a:defRPr>
            </a:pPr>
            <a:r>
              <a:t>Frontend: SvelteKit &amp; TypeScript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True reactivity: Compiles down to surgically precise DOM updates without Virtual DOM overhead.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Persistent app shell: Seamless audio playback across client-side page transitions.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Lightweight footprint: Minimal bundle size ensures fast time-to-interactive.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500">
                <a:solidFill>
                  <a:srgbClr val="F5F0E8"/>
                </a:solidFill>
              </a:defRPr>
            </a:pPr>
            <a:r>
              <a:t>Database: PostgreSQL 16.9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Strict relational integrity: Enforces foreign keys across playlists, users, and history.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Advanced indexing: Unique B-tree indexes on share tokens and composite indexes on tags.</a:t>
            </a:r>
          </a:p>
          <a:p>
            <a:pPr>
              <a:spcAft>
                <a:spcPts val="200"/>
              </a:spcAft>
              <a:defRPr sz="1200">
                <a:solidFill>
                  <a:srgbClr val="F5F0E8"/>
                </a:solidFill>
              </a:defRPr>
            </a:pPr>
            <a:r>
              <a:t>• UTF-8 compliance: Robust support for international track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Database Design: 9 Relational Entities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Users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username, email, password_hash, avatar_url, created_at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Artists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name, bio, image_url, jamendo_id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Albums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artist_id, title, cover_url, release_year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title, album_id, artist_id, duration, bpm, energy, mood, genre, share_token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Playlists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name, description, cover_url, is_public, share_token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5468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PlaylistSongs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playlist_id, song_id, position, added_at (Composite PK)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ListeningHistories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played_at, play_duration_seconds, context_tags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FF796C"/>
                </a:solidFill>
              </a:defRPr>
            </a:pPr>
            <a:r>
              <a:t>ContextTags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user_id, song_id, tag_name, created_at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663440"/>
            <a:ext cx="3383280" cy="132588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b="1" sz="1400">
                <a:solidFill>
                  <a:srgbClr val="B19AFF"/>
                </a:solidFill>
              </a:defRPr>
            </a:pPr>
            <a:r>
              <a:t>DivergeSessions</a:t>
            </a:r>
          </a:p>
          <a:p>
            <a:pPr>
              <a:defRPr sz="1050">
                <a:solidFill>
                  <a:srgbClr val="AAA4BB"/>
                </a:solidFill>
              </a:defRPr>
            </a:pPr>
            <a:r>
              <a:t>id, host_user_id, name, share_code, current_song_id, position, is_playing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Audio Streaming Engine &amp; Range Seeking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HTTP 206 Partial Content Protocol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Browser transmits Range header: Range: bytes=1048576-2097151.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Go backend parses byte boundaries and extracts requested chunk.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Server replies with HTTP 206 Partial Content and Content-Range: bytes 1048576-2097151/8388608.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Enables instantaneous timeline scrubbing without buffering entire file.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Persistent Svelte Audio Store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Audio element lives in persistent player singleton outside route DOM.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Smooth navigation across /search, /canvas, /library without interruption.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Fisher-Yates shuffle algorithm guarantees uniformly random track order.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Three-state repeat mode: Repeat Off -&gt; Repeat All -&gt; Repeat One track.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Feature Showcase: Sound Canvas &amp; Anti-Algorithm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1. Sound Canvas (2D Spatial Map)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X-Axis represents Energy Score (0.0 Calm -&gt; 1.0 Intense).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Y-Axis represents Mood Valence (0.0 Melancholic -&gt; 1.0 Uplifting).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Interactive quadrants: Ambient Calm, Euphoric Kinetic, Moody Introspective, and Tense Raw.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One-click quadrant playback queues entire mood regions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2. The Anti-Algorithm Route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Calculates user centroid: Mean BPM, energy, mood, and primary genre.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Inverts listening profile to discover under-explored sonic spaces.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Serves curated divergence with explicit explanation rationale.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Provides a dedicated discovery toggle directly inside the search bar.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Feature Showcase: Track DNA, Trace &amp; Sessions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3. Track DNA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Deterministic generative SVG glyph produced per song based strictly on its BPM, key, and energy. Zero randomness; identical glyph per song every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F796C"/>
                </a:solidFill>
              </a:defRPr>
            </a:pPr>
            <a:r>
              <a:t>4. Trace Journey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Branching tree visualization of user's listening path. Detects genre transitions and branches new exploration paths rather than flat history.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F5F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F5F0E8"/>
                </a:solidFill>
              </a:defRPr>
            </a:pPr>
            <a:r>
              <a:t>5. Diverge Sessions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Synchronized group listening rooms with 6-character room codes, live queue additions, and synchronized playback indicators.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31920"/>
            <a:ext cx="5212080" cy="205740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b="1" sz="1500">
                <a:solidFill>
                  <a:srgbClr val="B19AFF"/>
                </a:solidFill>
              </a:defRPr>
            </a:pPr>
            <a:r>
              <a:t>6. Context Tags</a:t>
            </a:r>
          </a:p>
          <a:p>
            <a:pPr>
              <a:defRPr sz="1200">
                <a:solidFill>
                  <a:srgbClr val="F5F0E8"/>
                </a:solidFill>
              </a:defRPr>
            </a:pPr>
            <a:r>
              <a:t>Personal context tagging (#midnight, #code-flow) allowing listeners to attach environments and retrieve context-filtered recommendations.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Offline Architecture &amp; Verification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B19AFF"/>
                </a:solidFill>
              </a:defRPr>
            </a:pPr>
            <a:r>
              <a:t>Offline Playback Engine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Browser IndexedDB database (`diverge_offline_db`) stores binary audio blobs.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Custom Service Worker (`sw.js`) intercepts app shell requests during offline mode.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Track blob URLs (`URL.createObjectURL`) feed directly into player audio element.</a:t>
            </a:r>
          </a:p>
          <a:p>
            <a:pPr>
              <a:spcAft>
                <a:spcPts val="800"/>
              </a:spcAft>
              <a:defRPr sz="1200">
                <a:solidFill>
                  <a:srgbClr val="F5F0E8"/>
                </a:solidFill>
              </a:defRPr>
            </a:pPr>
            <a:r>
              <a:t>• Storage quota estimation (`navigator.storage.estimate`) prevents quota overflow.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FF79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600">
                <a:solidFill>
                  <a:srgbClr val="FF796C"/>
                </a:solidFill>
              </a:defRPr>
            </a:pPr>
            <a:r>
              <a:t>100% Verification Pass Rate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TC-01: PostgreSQL Cluster Initialization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TC-02: Go Backend Auto-Migration (9 tables)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TC-03: Catalog Seed (18 multi-quadrant songs)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TC-04: User Registration &amp; Bcrypt Hashing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TC-05: JWT Session Cookie Authentication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TC-06: Sound Canvas Spatial Coordinates Query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TC-07: Anti-Algorithm Comfort Inversion — </a:t>
            </a:r>
            <a:r>
              <a:rPr b="1">
                <a:solidFill>
                  <a:srgbClr val="4ADE80"/>
                </a:solidFill>
              </a:rPr>
              <a:t>PASS</a:t>
            </a:r>
          </a:p>
          <a:p>
            <a:pPr>
              <a:defRPr sz="1100">
                <a:solidFill>
                  <a:srgbClr val="F5F0E8"/>
                </a:solidFill>
              </a:defRPr>
            </a:pPr>
            <a:r>
              <a:t>✔ TC-08: Frontend Production Build &amp; SSR Routing — </a:t>
            </a:r>
            <a:r>
              <a:rPr b="1">
                <a:solidFill>
                  <a:srgbClr val="4ADE80"/>
                </a:solidFill>
              </a:rPr>
              <a:t>PASS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0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19AFF"/>
                </a:solidFill>
              </a:defRPr>
            </a:pPr>
            <a:r>
              <a:t>DIVERGE INTERNSHIP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F0E8"/>
                </a:solidFill>
              </a:defRPr>
            </a:pPr>
            <a:r>
              <a:t>Conclusion &amp; Project Submission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B1827"/>
          </a:solidFill>
          <a:ln>
            <a:solidFill>
              <a:srgbClr val="B19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b="1" sz="2000">
                <a:solidFill>
                  <a:srgbClr val="B19AFF"/>
                </a:solidFill>
              </a:defRPr>
            </a:pPr>
            <a:r>
              <a:t>Internship Deliverables Complete</a:t>
            </a:r>
          </a:p>
          <a:p>
            <a:pPr>
              <a:spcAft>
                <a:spcPts val="800"/>
              </a:spcAft>
              <a:defRPr b="1" sz="1300">
                <a:solidFill>
                  <a:srgbClr val="FF796C"/>
                </a:solidFill>
              </a:defRPr>
            </a:pPr>
            <a:r>
              <a:t>• Deliverable 1: Source Code Repository: </a:t>
            </a:r>
            <a:r>
              <a:rPr b="0">
                <a:solidFill>
                  <a:srgbClr val="F5F0E8"/>
                </a:solidFill>
              </a:rPr>
              <a:t>Complete Go backend (Fiber, GORM, JWT), complete SvelteKit frontend (TypeScript, custom CSS tokens), PostgreSQL schema, seeder CLI, and README.md.</a:t>
            </a:r>
          </a:p>
          <a:p>
            <a:pPr>
              <a:spcAft>
                <a:spcPts val="800"/>
              </a:spcAft>
              <a:defRPr b="1" sz="1300">
                <a:solidFill>
                  <a:srgbClr val="FF796C"/>
                </a:solidFill>
              </a:defRPr>
            </a:pPr>
            <a:r>
              <a:t>• Deliverable 2: Technical Project Report (PDF): </a:t>
            </a:r>
            <a:r>
              <a:rPr b="0">
                <a:solidFill>
                  <a:srgbClr val="F5F0E8"/>
                </a:solidFill>
              </a:rPr>
              <a:t>16-chapter comprehensive documentation adhering to university/internship guidelines at `j:/DIVERGE/docs/project-report.pdf`.</a:t>
            </a:r>
          </a:p>
          <a:p>
            <a:pPr>
              <a:spcAft>
                <a:spcPts val="800"/>
              </a:spcAft>
              <a:defRPr b="1" sz="1300">
                <a:solidFill>
                  <a:srgbClr val="FF796C"/>
                </a:solidFill>
              </a:defRPr>
            </a:pPr>
            <a:r>
              <a:t>• Deliverable 3: Presentation Deck (PPTX): </a:t>
            </a:r>
            <a:r>
              <a:rPr b="0">
                <a:solidFill>
                  <a:srgbClr val="F5F0E8"/>
                </a:solidFill>
              </a:rPr>
              <a:t>12-slide executive presentation covering architecture, features, and verification at `j:/DIVERGE/docs/presentation.pptx`.</a:t>
            </a:r>
          </a:p>
          <a:p>
            <a:pPr>
              <a:spcAft>
                <a:spcPts val="800"/>
              </a:spcAft>
              <a:defRPr b="1" sz="1300">
                <a:solidFill>
                  <a:srgbClr val="FF796C"/>
                </a:solidFill>
              </a:defRPr>
            </a:pPr>
            <a:r>
              <a:t>• Deployment &amp; Verification: </a:t>
            </a:r>
            <a:r>
              <a:rPr b="0">
                <a:solidFill>
                  <a:srgbClr val="F5F0E8"/>
                </a:solidFill>
              </a:rPr>
              <a:t>Full local execution verified with PostgreSQL 16 on port 5432, Go API on port 8080, and SvelteKit frontend on port 5173.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